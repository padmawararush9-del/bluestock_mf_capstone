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4" r:id="rId1"/>
  </p:sldMasterIdLst>
  <p:sldIdLst>
    <p:sldId id="258" r:id="rId2"/>
    <p:sldId id="259" r:id="rId3"/>
    <p:sldId id="262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ush Padmawar" userId="60fbb9efc0809bcf" providerId="LiveId" clId="{718887FF-72CF-4F1B-B469-9DC9DD6544AB}"/>
    <pc:docChg chg="custSel addSld modSld">
      <pc:chgData name="Arush Padmawar" userId="60fbb9efc0809bcf" providerId="LiveId" clId="{718887FF-72CF-4F1B-B469-9DC9DD6544AB}" dt="2026-06-09T16:18:08.704" v="36" actId="1076"/>
      <pc:docMkLst>
        <pc:docMk/>
      </pc:docMkLst>
      <pc:sldChg chg="addSp modSp mod">
        <pc:chgData name="Arush Padmawar" userId="60fbb9efc0809bcf" providerId="LiveId" clId="{718887FF-72CF-4F1B-B469-9DC9DD6544AB}" dt="2026-06-09T16:14:30.145" v="6" actId="14100"/>
        <pc:sldMkLst>
          <pc:docMk/>
          <pc:sldMk cId="2112602324" sldId="266"/>
        </pc:sldMkLst>
        <pc:spChg chg="mod">
          <ac:chgData name="Arush Padmawar" userId="60fbb9efc0809bcf" providerId="LiveId" clId="{718887FF-72CF-4F1B-B469-9DC9DD6544AB}" dt="2026-06-09T16:14:25.932" v="5" actId="1076"/>
          <ac:spMkLst>
            <pc:docMk/>
            <pc:sldMk cId="2112602324" sldId="266"/>
            <ac:spMk id="3" creationId="{899A74B2-3875-6AEF-3413-24AF639713EA}"/>
          </ac:spMkLst>
        </pc:spChg>
        <pc:picChg chg="add mod">
          <ac:chgData name="Arush Padmawar" userId="60fbb9efc0809bcf" providerId="LiveId" clId="{718887FF-72CF-4F1B-B469-9DC9DD6544AB}" dt="2026-06-09T16:14:30.145" v="6" actId="14100"/>
          <ac:picMkLst>
            <pc:docMk/>
            <pc:sldMk cId="2112602324" sldId="266"/>
            <ac:picMk id="5" creationId="{94EEE109-F381-12EA-0401-BA5AEFBDBD0E}"/>
          </ac:picMkLst>
        </pc:picChg>
      </pc:sldChg>
      <pc:sldChg chg="addSp modSp mod">
        <pc:chgData name="Arush Padmawar" userId="60fbb9efc0809bcf" providerId="LiveId" clId="{718887FF-72CF-4F1B-B469-9DC9DD6544AB}" dt="2026-06-09T16:16:40.570" v="28" actId="14100"/>
        <pc:sldMkLst>
          <pc:docMk/>
          <pc:sldMk cId="84054518" sldId="267"/>
        </pc:sldMkLst>
        <pc:spChg chg="mod">
          <ac:chgData name="Arush Padmawar" userId="60fbb9efc0809bcf" providerId="LiveId" clId="{718887FF-72CF-4F1B-B469-9DC9DD6544AB}" dt="2026-06-09T16:16:28.572" v="25" actId="14100"/>
          <ac:spMkLst>
            <pc:docMk/>
            <pc:sldMk cId="84054518" sldId="267"/>
            <ac:spMk id="3" creationId="{F0D2608D-B20C-AAAD-9C75-45F4F943D8FE}"/>
          </ac:spMkLst>
        </pc:spChg>
        <pc:picChg chg="add mod">
          <ac:chgData name="Arush Padmawar" userId="60fbb9efc0809bcf" providerId="LiveId" clId="{718887FF-72CF-4F1B-B469-9DC9DD6544AB}" dt="2026-06-09T16:16:32.548" v="26" actId="1076"/>
          <ac:picMkLst>
            <pc:docMk/>
            <pc:sldMk cId="84054518" sldId="267"/>
            <ac:picMk id="5" creationId="{9B4E59B9-40DA-2ABC-3BDA-7EB8632B6BFF}"/>
          </ac:picMkLst>
        </pc:picChg>
        <pc:picChg chg="add mod">
          <ac:chgData name="Arush Padmawar" userId="60fbb9efc0809bcf" providerId="LiveId" clId="{718887FF-72CF-4F1B-B469-9DC9DD6544AB}" dt="2026-06-09T16:16:40.570" v="28" actId="14100"/>
          <ac:picMkLst>
            <pc:docMk/>
            <pc:sldMk cId="84054518" sldId="267"/>
            <ac:picMk id="7" creationId="{F93CF424-06B5-DB97-AAD2-43EEB8D8E6DF}"/>
          </ac:picMkLst>
        </pc:picChg>
      </pc:sldChg>
      <pc:sldChg chg="addSp delSp modSp new mod">
        <pc:chgData name="Arush Padmawar" userId="60fbb9efc0809bcf" providerId="LiveId" clId="{718887FF-72CF-4F1B-B469-9DC9DD6544AB}" dt="2026-06-09T16:18:08.704" v="36" actId="1076"/>
        <pc:sldMkLst>
          <pc:docMk/>
          <pc:sldMk cId="408523795" sldId="269"/>
        </pc:sldMkLst>
        <pc:spChg chg="del">
          <ac:chgData name="Arush Padmawar" userId="60fbb9efc0809bcf" providerId="LiveId" clId="{718887FF-72CF-4F1B-B469-9DC9DD6544AB}" dt="2026-06-09T16:17:03.827" v="30" actId="478"/>
          <ac:spMkLst>
            <pc:docMk/>
            <pc:sldMk cId="408523795" sldId="269"/>
            <ac:spMk id="2" creationId="{163577D7-7974-3B86-0EBE-A65294BDAF17}"/>
          </ac:spMkLst>
        </pc:spChg>
        <pc:spChg chg="del">
          <ac:chgData name="Arush Padmawar" userId="60fbb9efc0809bcf" providerId="LiveId" clId="{718887FF-72CF-4F1B-B469-9DC9DD6544AB}" dt="2026-06-09T16:17:06.074" v="31" actId="478"/>
          <ac:spMkLst>
            <pc:docMk/>
            <pc:sldMk cId="408523795" sldId="269"/>
            <ac:spMk id="3" creationId="{D4E1196B-2952-129B-8F02-4141FD538D39}"/>
          </ac:spMkLst>
        </pc:spChg>
        <pc:picChg chg="add mod">
          <ac:chgData name="Arush Padmawar" userId="60fbb9efc0809bcf" providerId="LiveId" clId="{718887FF-72CF-4F1B-B469-9DC9DD6544AB}" dt="2026-06-09T16:18:08.704" v="36" actId="1076"/>
          <ac:picMkLst>
            <pc:docMk/>
            <pc:sldMk cId="408523795" sldId="269"/>
            <ac:picMk id="5" creationId="{7CC60056-BC68-83CD-CEAC-FC2D455F017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6444479B-705B-4489-957E-7E8A228BDFA0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061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18782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3828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72737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4676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11465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9183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92958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48454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36070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82500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65040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38837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30090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06645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7DA38F49-B3E2-4BF0-BEC7-C30D34ABBB8D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19088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DA38F49-B3E2-4BF0-BEC7-C30D34ABBB8D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99332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DA38F49-B3E2-4BF0-BEC7-C30D34ABBB8D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857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36" r:id="rId12"/>
    <p:sldLayoutId id="2147483837" r:id="rId13"/>
    <p:sldLayoutId id="2147483838" r:id="rId14"/>
    <p:sldLayoutId id="2147483839" r:id="rId15"/>
    <p:sldLayoutId id="2147483840" r:id="rId16"/>
    <p:sldLayoutId id="214748384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EB0F08-05D3-A62A-E566-140BA632AB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047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E8D81-EE19-B7CC-8B32-ACB742FF9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2CAF3-A054-D927-2F6C-CAA7AFAD8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3534833"/>
          </a:xfrm>
        </p:spPr>
        <p:txBody>
          <a:bodyPr/>
          <a:lstStyle/>
          <a:p>
            <a:r>
              <a:rPr lang="en-IN" b="1" dirty="0"/>
              <a:t>Problem</a:t>
            </a:r>
          </a:p>
          <a:p>
            <a:r>
              <a:rPr lang="en-IN" dirty="0"/>
              <a:t>Large volume of mutual fund data is difficult to </a:t>
            </a:r>
            <a:r>
              <a:rPr lang="en-IN" dirty="0" err="1"/>
              <a:t>analyze</a:t>
            </a:r>
            <a:r>
              <a:rPr lang="en-IN" dirty="0"/>
              <a:t> manually.</a:t>
            </a:r>
          </a:p>
          <a:p>
            <a:r>
              <a:rPr lang="en-IN" dirty="0"/>
              <a:t>Investors need better insights into fund performance and risk.</a:t>
            </a:r>
          </a:p>
          <a:p>
            <a:r>
              <a:rPr lang="en-IN" b="1" dirty="0"/>
              <a:t>Objective</a:t>
            </a:r>
          </a:p>
          <a:p>
            <a:r>
              <a:rPr lang="en-IN" dirty="0" err="1"/>
              <a:t>Analyze</a:t>
            </a:r>
            <a:r>
              <a:rPr lang="en-IN" dirty="0"/>
              <a:t> mutual fund performance.</a:t>
            </a:r>
          </a:p>
          <a:p>
            <a:r>
              <a:rPr lang="en-IN" dirty="0"/>
              <a:t>Study investor behaviour.</a:t>
            </a:r>
          </a:p>
          <a:p>
            <a:r>
              <a:rPr lang="en-IN" dirty="0"/>
              <a:t>Build interactive Power BI dashboards.</a:t>
            </a:r>
          </a:p>
          <a:p>
            <a:r>
              <a:rPr lang="en-IN" dirty="0"/>
              <a:t>Generate actionable insights using advanced analytics.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1571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02844-291D-54C6-CC63-694B2E8BE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073ED-85CB-F1C1-41F4-603513533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Datasets Used</a:t>
            </a:r>
          </a:p>
          <a:p>
            <a:r>
              <a:rPr lang="en-IN" dirty="0"/>
              <a:t>Fund Master Data</a:t>
            </a:r>
          </a:p>
          <a:p>
            <a:r>
              <a:rPr lang="en-IN" dirty="0"/>
              <a:t>NAV Data</a:t>
            </a:r>
          </a:p>
          <a:p>
            <a:r>
              <a:rPr lang="en-IN" dirty="0"/>
              <a:t>Performance Data</a:t>
            </a:r>
          </a:p>
          <a:p>
            <a:r>
              <a:rPr lang="en-IN" dirty="0"/>
              <a:t>Benchmark Indices</a:t>
            </a:r>
          </a:p>
          <a:p>
            <a:r>
              <a:rPr lang="en-IN" dirty="0"/>
              <a:t>Monthly SIP Inflows</a:t>
            </a:r>
          </a:p>
          <a:p>
            <a:r>
              <a:rPr lang="en-IN" dirty="0"/>
              <a:t>Category Inflows</a:t>
            </a:r>
          </a:p>
          <a:p>
            <a:r>
              <a:rPr lang="en-IN" dirty="0"/>
              <a:t>Portfolio Holdings</a:t>
            </a:r>
          </a:p>
          <a:p>
            <a:r>
              <a:rPr lang="en-IN" dirty="0"/>
              <a:t>Investor Transactions</a:t>
            </a:r>
          </a:p>
          <a:p>
            <a:r>
              <a:rPr lang="en-IN" dirty="0"/>
              <a:t>Industry Folio Count</a:t>
            </a:r>
          </a:p>
          <a:p>
            <a:r>
              <a:rPr lang="en-IN" dirty="0"/>
              <a:t>AUM by Fund House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7111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1DFA-4E3E-303A-E569-AE63C3E6F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9F72A-30AE-B936-1F86-C00339876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Raw Data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Data Cleaning &amp; ETL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EDA &amp; Performance Analytics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Advanced Analytics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Power BI Dashboard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Insights &amp;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344116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73873-8468-21A8-7185-D75750A70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EDA Highlights (Industry Trends)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BC83B8-F1FF-25D0-8070-37160FD313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1487" y="1881147"/>
            <a:ext cx="3753445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Growth in SIP inflows over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 in mutual fund folio counts.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Category-wise investment preferences.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AUM distribution across fund houses.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F2CE59-38AF-85D6-AE14-FA288EFC8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7508" y="2335802"/>
            <a:ext cx="4071199" cy="21315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DA544C-99B5-8EB6-A9BE-ACBF0C2924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4932" y="4325417"/>
            <a:ext cx="4391564" cy="25223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295EAB-68B8-FE7B-CD53-39323E431A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6496" y="2363232"/>
            <a:ext cx="3535504" cy="21315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52498C3-4D98-FD15-5F0E-FA149418BE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6496" y="4325417"/>
            <a:ext cx="3460427" cy="230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121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BF940-AC4D-645E-8E58-A20AD8B62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EDA Highlights (Investor Analysis)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858426-511A-5A51-559F-A9713FFAE3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8571" y="2434253"/>
            <a:ext cx="3774972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 analysis by state.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Age-group investment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behaviour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City-tier participation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Gender investment </a:t>
            </a:r>
            <a:r>
              <a:rPr lang="en-US" altLang="en-US" sz="2800" dirty="0" err="1">
                <a:solidFill>
                  <a:schemeClr val="tx1"/>
                </a:solidFill>
                <a:latin typeface="Arial" panose="020B0604020202020204" pitchFamily="34" charset="0"/>
              </a:rPr>
              <a:t>behaviour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6B3E37-4F60-DE49-0BAE-429C8246EA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1615" y="2252186"/>
            <a:ext cx="3858567" cy="20398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CF6DCA-4FCA-C385-7455-EF4A74EF0B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293" y="2302652"/>
            <a:ext cx="3296333" cy="20398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CE66A7-FB12-7F9F-D5C8-D5D18897F4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9172" y="4342468"/>
            <a:ext cx="3941565" cy="23095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13574E-3B9F-4289-4493-3E13EE92D9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6882" y="4169338"/>
            <a:ext cx="3201300" cy="265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222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C4059-2B5C-7419-4D30-1873A3E54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690AC-390B-6D44-1FE3-A0EC4EC2B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904" y="2205567"/>
            <a:ext cx="9521512" cy="3416300"/>
          </a:xfrm>
        </p:spPr>
        <p:txBody>
          <a:bodyPr>
            <a:noAutofit/>
          </a:bodyPr>
          <a:lstStyle/>
          <a:p>
            <a:r>
              <a:rPr lang="en-IN" sz="1400" b="1" dirty="0"/>
              <a:t>Metrics Calculated</a:t>
            </a:r>
          </a:p>
          <a:p>
            <a:r>
              <a:rPr lang="en-IN" sz="1400" dirty="0"/>
              <a:t>CAGR (Compound Annual Growth Rate)</a:t>
            </a:r>
          </a:p>
          <a:p>
            <a:r>
              <a:rPr lang="en-IN" sz="1400" dirty="0"/>
              <a:t>Sharpe Ratio</a:t>
            </a:r>
          </a:p>
          <a:p>
            <a:r>
              <a:rPr lang="en-IN" sz="1400" dirty="0"/>
              <a:t>Sortino Ratio</a:t>
            </a:r>
          </a:p>
          <a:p>
            <a:r>
              <a:rPr lang="en-IN" sz="1400" dirty="0"/>
              <a:t>Alpha</a:t>
            </a:r>
          </a:p>
          <a:p>
            <a:r>
              <a:rPr lang="en-IN" sz="1400" dirty="0"/>
              <a:t>Beta</a:t>
            </a:r>
          </a:p>
          <a:p>
            <a:r>
              <a:rPr lang="en-IN" sz="1400" dirty="0"/>
              <a:t>Tracking Error</a:t>
            </a:r>
          </a:p>
          <a:p>
            <a:r>
              <a:rPr lang="en-IN" sz="1400" dirty="0"/>
              <a:t>Maximum Drawdown</a:t>
            </a:r>
          </a:p>
          <a:p>
            <a:r>
              <a:rPr lang="en-IN" sz="1400" b="1" dirty="0"/>
              <a:t>Key Observations</a:t>
            </a:r>
          </a:p>
          <a:p>
            <a:r>
              <a:rPr lang="en-IN" sz="1400" dirty="0"/>
              <a:t>Risk-adjusted performance varied significantly across funds.</a:t>
            </a:r>
          </a:p>
          <a:p>
            <a:r>
              <a:rPr lang="en-IN" sz="1400" dirty="0"/>
              <a:t>Some funds delivered strong returns but also carried higher risk.</a:t>
            </a:r>
          </a:p>
          <a:p>
            <a:r>
              <a:rPr lang="en-IN" sz="1400" dirty="0"/>
              <a:t>Alpha and Beta helped evaluate performance against benchmark indices.</a:t>
            </a:r>
          </a:p>
          <a:p>
            <a:r>
              <a:rPr lang="en-IN" sz="1400" dirty="0"/>
              <a:t>Maximum Drawdown highlighted fund resilience during market declines.</a:t>
            </a:r>
          </a:p>
        </p:txBody>
      </p:sp>
    </p:spTree>
    <p:extLst>
      <p:ext uri="{BB962C8B-B14F-4D97-AF65-F5344CB8AC3E}">
        <p14:creationId xmlns:p14="http://schemas.microsoft.com/office/powerpoint/2010/main" val="2050928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855CC-4F64-142B-5B85-DD61B6CDF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Advanced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53A56-9557-7491-AADD-B35E351B3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Advanced Analysis Performed</a:t>
            </a:r>
          </a:p>
          <a:p>
            <a:r>
              <a:rPr lang="en-IN" dirty="0"/>
              <a:t>Historical </a:t>
            </a:r>
            <a:r>
              <a:rPr lang="en-IN" dirty="0" err="1"/>
              <a:t>VaR</a:t>
            </a:r>
            <a:r>
              <a:rPr lang="en-IN" dirty="0"/>
              <a:t> &amp; CVaR</a:t>
            </a:r>
          </a:p>
          <a:p>
            <a:r>
              <a:rPr lang="en-IN" dirty="0"/>
              <a:t>Rolling 90-Day Sharpe Ratio</a:t>
            </a:r>
          </a:p>
          <a:p>
            <a:r>
              <a:rPr lang="en-IN" dirty="0"/>
              <a:t>Investor Cohort Analysis</a:t>
            </a:r>
          </a:p>
          <a:p>
            <a:r>
              <a:rPr lang="en-IN" dirty="0"/>
              <a:t>SIP Continuity Analysis</a:t>
            </a:r>
          </a:p>
          <a:p>
            <a:r>
              <a:rPr lang="en-IN" dirty="0"/>
              <a:t>Fund Recommendation Engine</a:t>
            </a:r>
          </a:p>
          <a:p>
            <a:r>
              <a:rPr lang="en-IN" dirty="0"/>
              <a:t>Sector Concentration Analysis (HHI)</a:t>
            </a:r>
          </a:p>
          <a:p>
            <a:r>
              <a:rPr lang="en-IN" b="1" dirty="0"/>
              <a:t>Key Insights</a:t>
            </a:r>
          </a:p>
          <a:p>
            <a:r>
              <a:rPr lang="en-IN" dirty="0"/>
              <a:t>Identified funds with higher downside risk.</a:t>
            </a:r>
          </a:p>
          <a:p>
            <a:r>
              <a:rPr lang="en-IN" dirty="0"/>
              <a:t>Detected investors at risk of SIP discontinuation.</a:t>
            </a:r>
          </a:p>
          <a:p>
            <a:r>
              <a:rPr lang="en-IN" dirty="0" err="1"/>
              <a:t>Analyzed</a:t>
            </a:r>
            <a:r>
              <a:rPr lang="en-IN" dirty="0"/>
              <a:t> investment behaviour across cohorts.</a:t>
            </a:r>
          </a:p>
          <a:p>
            <a:r>
              <a:rPr lang="en-IN" dirty="0"/>
              <a:t>Measured portfolio diversification using HHI.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7470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421B7-2625-E0BC-EEEA-C1B34D49C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A74B2-3875-6AEF-3413-24AF63971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487" y="2645833"/>
            <a:ext cx="8825659" cy="3416300"/>
          </a:xfrm>
        </p:spPr>
        <p:txBody>
          <a:bodyPr/>
          <a:lstStyle/>
          <a:p>
            <a:r>
              <a:rPr lang="en-IN" b="1" dirty="0"/>
              <a:t>Industry Overview Dashboard</a:t>
            </a:r>
          </a:p>
          <a:p>
            <a:r>
              <a:rPr lang="en-IN" dirty="0"/>
              <a:t>Total AUM</a:t>
            </a:r>
          </a:p>
          <a:p>
            <a:r>
              <a:rPr lang="en-IN" dirty="0"/>
              <a:t>SIP Inflows</a:t>
            </a:r>
          </a:p>
          <a:p>
            <a:r>
              <a:rPr lang="en-IN" dirty="0"/>
              <a:t>Folio Count</a:t>
            </a:r>
          </a:p>
          <a:p>
            <a:r>
              <a:rPr lang="en-IN" dirty="0"/>
              <a:t>Category Inflows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EEE109-F381-12EA-0401-BA5AEFBDB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3267" y="2401977"/>
            <a:ext cx="8068734" cy="445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602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C24E5-2A16-867B-ACCD-5AA25FEDE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2608D-B20C-AAAD-9C75-45F4F943D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88" y="2304447"/>
            <a:ext cx="2934446" cy="3416300"/>
          </a:xfrm>
        </p:spPr>
        <p:txBody>
          <a:bodyPr/>
          <a:lstStyle/>
          <a:p>
            <a:r>
              <a:rPr lang="en-IN" b="1" dirty="0"/>
              <a:t>Fund Performance &amp; Investor Analytics</a:t>
            </a:r>
          </a:p>
          <a:p>
            <a:r>
              <a:rPr lang="en-IN" dirty="0"/>
              <a:t>Fund Ranking</a:t>
            </a:r>
          </a:p>
          <a:p>
            <a:r>
              <a:rPr lang="en-IN" dirty="0"/>
              <a:t>Risk vs Return Analysis</a:t>
            </a:r>
          </a:p>
          <a:p>
            <a:r>
              <a:rPr lang="en-IN" dirty="0"/>
              <a:t>Investor Demographics</a:t>
            </a:r>
          </a:p>
          <a:p>
            <a:r>
              <a:rPr lang="en-IN" dirty="0"/>
              <a:t>SIP Trends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4E59B9-40DA-2ABC-3BDA-7EB8632B6B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2533" y="2265467"/>
            <a:ext cx="4597399" cy="45535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3CF424-06B5-DB97-AAD2-43EEB8D8E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9932" y="2304447"/>
            <a:ext cx="4643219" cy="455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4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D2C5C-C631-8837-B6F7-AF8E5107B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3E33069-01F3-0AC0-1262-4EEB0AA60E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1487" y="2289592"/>
            <a:ext cx="10479697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Mutual fund industry participation showed steady growth through increasing folio counts and SIP inflows.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Equity-oriented categories attracted a significant share of investor inflows.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Fund performance varied considerably when evaluated using risk-adjusted metrics such as Sharpe Ratio and Sortino Ratio.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funds generated positive Alpha, indicating outperformance relative to their benchmarks.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 and CVaR analysis identified funds with higher downside risk during adverse market conditions.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Rolling Sharpe Ratio analysis revealed changes in risk-adjusted performance over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Investor cohort analysis highlighted differences in investment behaviour across investor groups.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SIP Continuity Analysis identified investors with irregular contribution patterns and higher discontinuation risk.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Sector HHI analysis showed that some funds were highly concentrated in a few sectors, while others maintained better diversification.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Power BI dashboards enabled effective visualization of fund performance, investor behaviour, and market trends. </a:t>
            </a:r>
          </a:p>
        </p:txBody>
      </p:sp>
    </p:spTree>
    <p:extLst>
      <p:ext uri="{BB962C8B-B14F-4D97-AF65-F5344CB8AC3E}">
        <p14:creationId xmlns:p14="http://schemas.microsoft.com/office/powerpoint/2010/main" val="3211919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C60056-BC68-83CD-CEAC-FC2D455F0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667" y="1298310"/>
            <a:ext cx="7958666" cy="426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237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59</TotalTime>
  <Words>463</Words>
  <Application>Microsoft Office PowerPoint</Application>
  <PresentationFormat>Widescreen</PresentationFormat>
  <Paragraphs>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 Boardroom</vt:lpstr>
      <vt:lpstr>PowerPoint Presentation</vt:lpstr>
      <vt:lpstr>Problem Statement &amp; Objective</vt:lpstr>
      <vt:lpstr>Data Sources</vt:lpstr>
      <vt:lpstr>Project Architecture</vt:lpstr>
      <vt:lpstr>EDA Highlights (Industry Trends) </vt:lpstr>
      <vt:lpstr>EDA Highlights (Investor Analysis)</vt:lpstr>
      <vt:lpstr>Performance Metrics</vt:lpstr>
      <vt:lpstr>Advanced Analytics</vt:lpstr>
      <vt:lpstr>Dashboard Overview</vt:lpstr>
      <vt:lpstr>Dashboard Overview</vt:lpstr>
      <vt:lpstr>Key Findings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Arush Padmawar</dc:creator>
  <cp:lastModifiedBy>Arush Padmawar</cp:lastModifiedBy>
  <cp:revision>1</cp:revision>
  <dcterms:created xsi:type="dcterms:W3CDTF">2026-06-09T14:49:42Z</dcterms:created>
  <dcterms:modified xsi:type="dcterms:W3CDTF">2026-06-09T16:18:11Z</dcterms:modified>
</cp:coreProperties>
</file>